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86"/>
  </p:normalViewPr>
  <p:slideViewPr>
    <p:cSldViewPr snapToGrid="0">
      <p:cViewPr varScale="1">
        <p:scale>
          <a:sx n="109" d="100"/>
          <a:sy n="109" d="100"/>
        </p:scale>
        <p:origin x="7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73B1B3-AD8B-3330-F056-2E799C5AC0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C734F44-47F6-7450-6FB7-E4FE9DD18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18DF0B-7C5D-0573-B25B-A1AD00421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68BE-6BFD-8446-9957-6FA09753A334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BF09EF-E19E-CB0F-A83A-900278453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14EA3A-3D07-3326-4ED0-BAE206735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C001-AB71-6A4C-A299-FEAA19886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3680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5BBA47-40CA-1587-C86B-1173751C5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48A821-ACBF-6CEE-5EBA-1AAFCE58D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F35C94-F149-9C41-160C-55285C7A9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68BE-6BFD-8446-9957-6FA09753A334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C27C4C-8AA1-76DE-1428-C0252B5F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9F1970-2403-B3F8-D6BF-15B8D4FC8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C001-AB71-6A4C-A299-FEAA19886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8218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D21A6E-649B-03F9-BE07-2FF818F13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17A8BE3-3ACD-F51D-5157-40EAE88B4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5DD048-172E-E517-DE3E-D25EE08A1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68BE-6BFD-8446-9957-6FA09753A334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3651B3-6CBF-A133-A508-C94A8C9E0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065F13-37C7-D74B-B958-97CDC70FE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C001-AB71-6A4C-A299-FEAA19886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9423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7A0A39-D33B-4B61-1615-D9B555C79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271ACD-0189-C4A3-ABAD-906FDACF86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DEC405B-C661-A1E2-8378-6A62F551C2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924942-F648-D1D0-DEDA-EA6866F74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68BE-6BFD-8446-9957-6FA09753A334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804FF23-FD73-DA18-0E05-07FC398BE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18D8F17-0CB2-728D-1A83-65ABF96B1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C001-AB71-6A4C-A299-FEAA19886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7215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2E9F71-A139-B18A-24E8-CF43B2233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8ABBE19-B808-BCA4-849A-F3BA53E5C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887A1BB-CABE-F9AE-710D-8BEA25F26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D6CEBE3-F905-14CB-E77E-6230E4B10A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EB7F082-0C72-39F3-CC80-D59BBE92AA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98681A6-1E3B-9756-80F8-4E9803E7A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68BE-6BFD-8446-9957-6FA09753A334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DA4760C-6DF9-FD2E-BADB-458AAE69B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E5C8AA9-8A40-1C08-09D6-9FB160F36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C001-AB71-6A4C-A299-FEAA19886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0891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8F50DE-A416-EC0B-4F07-BB70DDE4F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28DFBBE-B219-96E4-75E7-724484147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68BE-6BFD-8446-9957-6FA09753A334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F65EA80-A589-22CB-1268-C0DA02EC3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36D7307-FAF1-F6AD-E9FC-3E76AFAE1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C001-AB71-6A4C-A299-FEAA19886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4547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D3F1196-C67D-F15E-EC32-44A6601D4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68BE-6BFD-8446-9957-6FA09753A334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D2D886E-D619-E656-A238-683FDA2D8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C966BCC-27B0-4B4D-3ED1-39016AEC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C001-AB71-6A4C-A299-FEAA19886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0048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C47A27-B5F0-C828-F982-196E8A188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F48815-F3CB-A6C8-D37B-2832A5F1D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3218B4E-D72A-A410-70A2-2DA7A377B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6ADC09-33F8-7EAF-AC32-344E2919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68BE-6BFD-8446-9957-6FA09753A334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CE6D74E-C7EC-A9A9-6A4E-18205FC03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818DAD2-FD9E-7EC6-1D61-BBAA6303C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C001-AB71-6A4C-A299-FEAA19886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907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2FCFEC-CAB3-3EAB-50BF-835D0EA6D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03AEC32-2C8D-90C0-4C78-5C89E7DB5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04FC437-983C-FF1B-7904-6AF0D66DB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7DC1262-214B-8DC3-055E-8787D5932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68BE-6BFD-8446-9957-6FA09753A334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FDCB7C5-33C6-E9B1-F7D3-4926D1C5B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4C2888C-B483-C566-B743-EEF4FFCE7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C001-AB71-6A4C-A299-FEAA19886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040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D887A5-693E-424D-2B30-25A40EA8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4C2CFF5-5D10-7F9B-DAED-E0398F0C9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C3BAA8-EAD7-F135-A40F-6257F1E8B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68BE-6BFD-8446-9957-6FA09753A334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AC7261-FA07-3A2A-C365-1568D3A13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24DEEF-E32F-1A45-17E5-59EE23BB5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C001-AB71-6A4C-A299-FEAA19886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5243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1D06335-B38F-E8DA-36B9-84D1602152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1F824E1-F9A0-00BD-CFE0-E4F942DD97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48C4EE-8577-9950-92B4-FBE13C995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68BE-6BFD-8446-9957-6FA09753A334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C6AD18-3B96-CADB-C04A-FBE90F19F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43F2F8-5645-1A3D-928F-6A1999AC3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C001-AB71-6A4C-A299-FEAA19886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5434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61B0207-7E8A-FCE3-67A1-9614D2ECC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9F3F97-176E-E6E4-4056-9945E2D93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827633-A2A4-D35C-E8EC-31DE64FDD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D68BE-6BFD-8446-9957-6FA09753A334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16B1A4-FD40-3C96-F412-378F11B50C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8F2676-2C6A-0441-D550-820773D4D8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DC001-AB71-6A4C-A299-FEAA19886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8386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1B6B77B-6991-0612-D9DC-BE0F92CD717E}"/>
              </a:ext>
            </a:extLst>
          </p:cNvPr>
          <p:cNvSpPr txBox="1"/>
          <p:nvPr/>
        </p:nvSpPr>
        <p:spPr>
          <a:xfrm>
            <a:off x="973015" y="410308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関数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A92EC2F-C742-AEDE-D566-5F2018F5007E}"/>
              </a:ext>
            </a:extLst>
          </p:cNvPr>
          <p:cNvSpPr txBox="1"/>
          <p:nvPr/>
        </p:nvSpPr>
        <p:spPr>
          <a:xfrm>
            <a:off x="973015" y="133643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関数とは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5DA8534E-64D6-01B3-1C75-BF11B159BCDC}"/>
                  </a:ext>
                </a:extLst>
              </p:cNvPr>
              <p:cNvSpPr txBox="1"/>
              <p:nvPr/>
            </p:nvSpPr>
            <p:spPr>
              <a:xfrm>
                <a:off x="2790092" y="1336431"/>
                <a:ext cx="592053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kumimoji="1" lang="en-US" altLang="ja-JP" sz="3200" b="0" i="1" smtClean="0">
                        <a:latin typeface="Cambria Math" panose="02040503050406030204" pitchFamily="18" charset="0"/>
                        <a:ea typeface="Meiryo" panose="020B0604030504040204" pitchFamily="34" charset="-128"/>
                      </a:rPr>
                      <m:t>𝑦</m:t>
                    </m:r>
                    <m:r>
                      <a:rPr kumimoji="1" lang="en-US" altLang="ja-JP" sz="3200" b="0" i="1" smtClean="0">
                        <a:latin typeface="Cambria Math" panose="02040503050406030204" pitchFamily="18" charset="0"/>
                        <a:ea typeface="Meiryo" panose="020B0604030504040204" pitchFamily="34" charset="-128"/>
                      </a:rPr>
                      <m:t>=</m:t>
                    </m:r>
                    <m:r>
                      <a:rPr kumimoji="1" lang="en-US" altLang="ja-JP" sz="3200" b="0" i="1" smtClean="0">
                        <a:latin typeface="Cambria Math" panose="02040503050406030204" pitchFamily="18" charset="0"/>
                        <a:ea typeface="Meiryo" panose="020B0604030504040204" pitchFamily="34" charset="-128"/>
                      </a:rPr>
                      <m:t>𝑓</m:t>
                    </m:r>
                    <m:r>
                      <a:rPr kumimoji="1" lang="en-US" altLang="ja-JP" sz="3200" b="0" i="1" smtClean="0">
                        <a:latin typeface="Cambria Math" panose="02040503050406030204" pitchFamily="18" charset="0"/>
                        <a:ea typeface="Meiryo" panose="020B0604030504040204" pitchFamily="34" charset="-128"/>
                      </a:rPr>
                      <m:t>(</m:t>
                    </m:r>
                    <m:r>
                      <a:rPr kumimoji="1" lang="en-US" altLang="ja-JP" sz="3200" b="0" i="1" smtClean="0">
                        <a:latin typeface="Cambria Math" panose="02040503050406030204" pitchFamily="18" charset="0"/>
                        <a:ea typeface="Meiryo" panose="020B0604030504040204" pitchFamily="34" charset="-128"/>
                      </a:rPr>
                      <m:t>𝑥</m:t>
                    </m:r>
                    <m:r>
                      <a:rPr kumimoji="1" lang="en-US" altLang="ja-JP" sz="3200" b="0" i="1" smtClean="0">
                        <a:latin typeface="Cambria Math" panose="02040503050406030204" pitchFamily="18" charset="0"/>
                        <a:ea typeface="Meiryo" panose="020B0604030504040204" pitchFamily="34" charset="-128"/>
                      </a:rPr>
                      <m:t>)</m:t>
                    </m:r>
                    <m:r>
                      <a:rPr lang="ja-JP" altLang="en-US" sz="3200" i="1">
                        <a:latin typeface="Cambria Math" panose="02040503050406030204" pitchFamily="18" charset="0"/>
                        <a:ea typeface="Meiryo" panose="020B0604030504040204" pitchFamily="34" charset="-128"/>
                      </a:rPr>
                      <m:t>：</m:t>
                    </m:r>
                    <m:r>
                      <a:rPr lang="en-US" altLang="ja-JP" sz="3200" b="0" i="1" smtClean="0">
                        <a:latin typeface="Cambria Math" panose="02040503050406030204" pitchFamily="18" charset="0"/>
                        <a:ea typeface="Meiryo" panose="020B0604030504040204" pitchFamily="34" charset="-128"/>
                      </a:rPr>
                      <m:t>𝑓</m:t>
                    </m:r>
                  </m:oMath>
                </a14:m>
                <a:r>
                  <a:rPr kumimoji="1" lang="ja-JP" altLang="en-US" sz="3200">
                    <a:latin typeface="Meiryo" panose="020B0604030504040204" pitchFamily="34" charset="-128"/>
                    <a:ea typeface="Meiryo" panose="020B0604030504040204" pitchFamily="34" charset="-128"/>
                  </a:rPr>
                  <a:t>はブラックボックス</a:t>
                </a:r>
              </a:p>
            </p:txBody>
          </p:sp>
        </mc:Choice>
        <mc:Fallback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5DA8534E-64D6-01B3-1C75-BF11B159B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092" y="1336431"/>
                <a:ext cx="5920532" cy="492443"/>
              </a:xfrm>
              <a:prstGeom prst="rect">
                <a:avLst/>
              </a:prstGeom>
              <a:blipFill>
                <a:blip r:embed="rId2"/>
                <a:stretch>
                  <a:fillRect l="-2355" t="-23077" r="-3212" b="-512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D580A3A-30A7-892A-2286-6D7DB924024F}"/>
              </a:ext>
            </a:extLst>
          </p:cNvPr>
          <p:cNvSpPr txBox="1"/>
          <p:nvPr/>
        </p:nvSpPr>
        <p:spPr>
          <a:xfrm>
            <a:off x="973015" y="4069786"/>
            <a:ext cx="1071754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Python</a:t>
            </a:r>
            <a:r>
              <a:rPr kumimoji="1"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で関数を使う場合：</a:t>
            </a:r>
            <a:endParaRPr kumimoji="1"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l"/>
            <a:endParaRPr kumimoji="1"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l"/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　</a:t>
            </a:r>
            <a:r>
              <a:rPr lang="ja-JP" alt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　</a:t>
            </a:r>
            <a:r>
              <a:rPr kumimoji="1"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備え付けのものはほとんどないので、必要な都度使う関数を</a:t>
            </a:r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import</a:t>
            </a:r>
            <a:r>
              <a:rPr kumimoji="1"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する</a:t>
            </a:r>
            <a:endParaRPr kumimoji="1"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l"/>
            <a:r>
              <a:rPr kumimoji="1"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　</a:t>
            </a:r>
            <a:r>
              <a:rPr kumimoji="1" lang="ja-JP" alt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　</a:t>
            </a:r>
            <a:endParaRPr kumimoji="1"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57497FC-9620-D421-9172-96862708B7FC}"/>
              </a:ext>
            </a:extLst>
          </p:cNvPr>
          <p:cNvSpPr txBox="1"/>
          <p:nvPr/>
        </p:nvSpPr>
        <p:spPr>
          <a:xfrm>
            <a:off x="973015" y="2366019"/>
            <a:ext cx="21494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Python</a:t>
            </a:r>
            <a:r>
              <a:rPr kumimoji="1"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の関数</a:t>
            </a:r>
            <a:endParaRPr kumimoji="1"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2A4DFBF-0516-F9ED-26E4-46676F360DA6}"/>
              </a:ext>
            </a:extLst>
          </p:cNvPr>
          <p:cNvSpPr txBox="1"/>
          <p:nvPr/>
        </p:nvSpPr>
        <p:spPr>
          <a:xfrm>
            <a:off x="1475716" y="2949330"/>
            <a:ext cx="83407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kumimoji="1"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既製品の関数：関数に名前が決まっている（外部関数）</a:t>
            </a:r>
            <a:endParaRPr kumimoji="1"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自分で作る関数：関数の名前を自分でネーミング</a:t>
            </a:r>
            <a:endParaRPr kumimoji="1"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E791D7E-B0D0-0D1C-DE0F-C69B96C18F27}"/>
              </a:ext>
            </a:extLst>
          </p:cNvPr>
          <p:cNvSpPr txBox="1"/>
          <p:nvPr/>
        </p:nvSpPr>
        <p:spPr>
          <a:xfrm>
            <a:off x="8131126" y="179809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00858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307BBA1-4AED-08B1-11F0-1B4B94070749}"/>
              </a:ext>
            </a:extLst>
          </p:cNvPr>
          <p:cNvSpPr txBox="1"/>
          <p:nvPr/>
        </p:nvSpPr>
        <p:spPr>
          <a:xfrm>
            <a:off x="1311022" y="64202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 u="sng">
                <a:latin typeface="Meiryo" panose="020B0604030504040204" pitchFamily="34" charset="-128"/>
                <a:ea typeface="Meiryo" panose="020B0604030504040204" pitchFamily="34" charset="-128"/>
              </a:rPr>
              <a:t>構文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A309B3A-5A77-E88D-3559-1EB2DC95178D}"/>
              </a:ext>
            </a:extLst>
          </p:cNvPr>
          <p:cNvSpPr txBox="1"/>
          <p:nvPr/>
        </p:nvSpPr>
        <p:spPr>
          <a:xfrm>
            <a:off x="1705552" y="1949003"/>
            <a:ext cx="61141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変数</a:t>
            </a:r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 = </a:t>
            </a:r>
            <a:r>
              <a:rPr kumimoji="1"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ライブラリ名</a:t>
            </a:r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.</a:t>
            </a:r>
            <a:r>
              <a:rPr kumimoji="1"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モジュール名</a:t>
            </a:r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kumimoji="1"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引数）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F8313109-A571-FA80-9AE0-BD6F7545D868}"/>
                  </a:ext>
                </a:extLst>
              </p:cNvPr>
              <p:cNvSpPr txBox="1"/>
              <p:nvPr/>
            </p:nvSpPr>
            <p:spPr>
              <a:xfrm>
                <a:off x="1711131" y="2519402"/>
                <a:ext cx="569367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800" i="1" smtClean="0">
                          <a:latin typeface="Cambria Math" panose="02040503050406030204" pitchFamily="18" charset="0"/>
                          <a:ea typeface="Meiryo" panose="020B0604030504040204" pitchFamily="34" charset="-128"/>
                        </a:rPr>
                        <m:t>𝑦</m:t>
                      </m:r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Meiryo" panose="020B0604030504040204" pitchFamily="34" charset="-128"/>
                        </a:rPr>
                        <m:t>  </m:t>
                      </m:r>
                      <m:r>
                        <a:rPr lang="en-US" altLang="ja-JP" sz="2800" i="1">
                          <a:latin typeface="Cambria Math" panose="02040503050406030204" pitchFamily="18" charset="0"/>
                          <a:ea typeface="Meiryo" panose="020B0604030504040204" pitchFamily="34" charset="-128"/>
                        </a:rPr>
                        <m:t>=</m:t>
                      </m:r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Meiryo" panose="020B0604030504040204" pitchFamily="34" charset="-128"/>
                        </a:rPr>
                        <m:t>                                              </m:t>
                      </m:r>
                      <m:r>
                        <a:rPr lang="en-US" altLang="ja-JP" sz="2800" i="1">
                          <a:latin typeface="Cambria Math" panose="02040503050406030204" pitchFamily="18" charset="0"/>
                          <a:ea typeface="Meiryo" panose="020B0604030504040204" pitchFamily="34" charset="-128"/>
                        </a:rPr>
                        <m:t>𝑓</m:t>
                      </m:r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Meiryo" panose="020B0604030504040204" pitchFamily="34" charset="-128"/>
                        </a:rPr>
                        <m:t>   </m:t>
                      </m:r>
                      <m:r>
                        <a:rPr lang="en-US" altLang="ja-JP" sz="2800" i="1">
                          <a:latin typeface="Cambria Math" panose="02040503050406030204" pitchFamily="18" charset="0"/>
                          <a:ea typeface="Meiryo" panose="020B0604030504040204" pitchFamily="34" charset="-128"/>
                        </a:rPr>
                        <m:t>(</m:t>
                      </m:r>
                      <m:r>
                        <a:rPr lang="en-US" altLang="ja-JP" sz="2800" i="1">
                          <a:latin typeface="Cambria Math" panose="02040503050406030204" pitchFamily="18" charset="0"/>
                          <a:ea typeface="Meiryo" panose="020B0604030504040204" pitchFamily="34" charset="-128"/>
                        </a:rPr>
                        <m:t>𝑥</m:t>
                      </m:r>
                      <m:r>
                        <a:rPr lang="en-US" altLang="ja-JP" sz="2800" i="1">
                          <a:latin typeface="Cambria Math" panose="02040503050406030204" pitchFamily="18" charset="0"/>
                          <a:ea typeface="Meiryo" panose="020B0604030504040204" pitchFamily="34" charset="-128"/>
                        </a:rPr>
                        <m:t>)</m:t>
                      </m:r>
                    </m:oMath>
                  </m:oMathPara>
                </a14:m>
                <a:endParaRPr kumimoji="1" lang="ja-JP" altLang="en-US" sz="280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F8313109-A571-FA80-9AE0-BD6F7545D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1131" y="2519402"/>
                <a:ext cx="5693674" cy="523220"/>
              </a:xfrm>
              <a:prstGeom prst="rect">
                <a:avLst/>
              </a:prstGeom>
              <a:blipFill>
                <a:blip r:embed="rId2"/>
                <a:stretch>
                  <a:fillRect t="-2381" b="-190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4A881C8-1C12-D805-0CCE-A7C025490D16}"/>
              </a:ext>
            </a:extLst>
          </p:cNvPr>
          <p:cNvSpPr txBox="1"/>
          <p:nvPr/>
        </p:nvSpPr>
        <p:spPr>
          <a:xfrm>
            <a:off x="1711131" y="1295512"/>
            <a:ext cx="3127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i</a:t>
            </a:r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mport </a:t>
            </a:r>
            <a:r>
              <a:rPr kumimoji="1"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ライブラリ名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2E0FCC2-790C-A29D-DAD5-34AAD584C3D6}"/>
              </a:ext>
            </a:extLst>
          </p:cNvPr>
          <p:cNvSpPr txBox="1"/>
          <p:nvPr/>
        </p:nvSpPr>
        <p:spPr>
          <a:xfrm>
            <a:off x="1705552" y="362082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例：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F03BB54-6994-7997-84AD-1BBB72B1FF9B}"/>
              </a:ext>
            </a:extLst>
          </p:cNvPr>
          <p:cNvSpPr txBox="1"/>
          <p:nvPr/>
        </p:nvSpPr>
        <p:spPr>
          <a:xfrm>
            <a:off x="2357793" y="4082491"/>
            <a:ext cx="32816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i</a:t>
            </a:r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mport math</a:t>
            </a:r>
          </a:p>
          <a:p>
            <a:pPr algn="l"/>
            <a:endParaRPr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l"/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r</a:t>
            </a:r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esult = </a:t>
            </a:r>
            <a:r>
              <a:rPr kumimoji="1" lang="en-US" altLang="ja-JP" sz="2400" dirty="0" err="1">
                <a:latin typeface="Meiryo" panose="020B0604030504040204" pitchFamily="34" charset="-128"/>
                <a:ea typeface="Meiryo" panose="020B0604030504040204" pitchFamily="34" charset="-128"/>
              </a:rPr>
              <a:t>math.log</a:t>
            </a:r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(5)</a:t>
            </a:r>
            <a:endParaRPr kumimoji="1"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F3E712A-7A7A-0116-DF89-42F431D746EC}"/>
              </a:ext>
            </a:extLst>
          </p:cNvPr>
          <p:cNvSpPr/>
          <p:nvPr/>
        </p:nvSpPr>
        <p:spPr>
          <a:xfrm>
            <a:off x="6836898" y="4281093"/>
            <a:ext cx="2700997" cy="24829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869EA36-5A82-92FF-8B19-9A98FE877DAB}"/>
              </a:ext>
            </a:extLst>
          </p:cNvPr>
          <p:cNvSpPr txBox="1"/>
          <p:nvPr/>
        </p:nvSpPr>
        <p:spPr>
          <a:xfrm>
            <a:off x="6703283" y="3326175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ライブラリのイメージ</a:t>
            </a:r>
            <a:endParaRPr kumimoji="1"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09AB9A2-5EB1-442A-AA72-53075D2014CB}"/>
              </a:ext>
            </a:extLst>
          </p:cNvPr>
          <p:cNvSpPr txBox="1"/>
          <p:nvPr/>
        </p:nvSpPr>
        <p:spPr>
          <a:xfrm>
            <a:off x="6836897" y="4281092"/>
            <a:ext cx="965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math</a:t>
            </a:r>
            <a:endParaRPr kumimoji="1"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2849700-784C-20A2-79D5-FC6D5D1772CF}"/>
              </a:ext>
            </a:extLst>
          </p:cNvPr>
          <p:cNvSpPr txBox="1"/>
          <p:nvPr/>
        </p:nvSpPr>
        <p:spPr>
          <a:xfrm>
            <a:off x="7802226" y="4978080"/>
            <a:ext cx="633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log</a:t>
            </a:r>
            <a:endParaRPr kumimoji="1"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1297B07-3906-F040-0F4F-3E5B4A0762DF}"/>
              </a:ext>
            </a:extLst>
          </p:cNvPr>
          <p:cNvSpPr txBox="1"/>
          <p:nvPr/>
        </p:nvSpPr>
        <p:spPr>
          <a:xfrm>
            <a:off x="7819726" y="5578245"/>
            <a:ext cx="721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exp</a:t>
            </a:r>
            <a:endParaRPr kumimoji="1"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292E35E-9B67-572D-6431-0DDA386FA7FD}"/>
              </a:ext>
            </a:extLst>
          </p:cNvPr>
          <p:cNvSpPr txBox="1"/>
          <p:nvPr/>
        </p:nvSpPr>
        <p:spPr>
          <a:xfrm>
            <a:off x="7744678" y="6302330"/>
            <a:ext cx="1382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factorial</a:t>
            </a:r>
            <a:endParaRPr kumimoji="1"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20" name="カギ線コネクタ 19">
            <a:extLst>
              <a:ext uri="{FF2B5EF4-FFF2-40B4-BE49-F238E27FC236}">
                <a16:creationId xmlns:a16="http://schemas.microsoft.com/office/drawing/2014/main" id="{A9CCA37E-E1A0-8910-3071-C0EBC26DFA28}"/>
              </a:ext>
            </a:extLst>
          </p:cNvPr>
          <p:cNvCxnSpPr>
            <a:cxnSpLocks/>
            <a:stCxn id="12" idx="2"/>
            <a:endCxn id="14" idx="1"/>
          </p:cNvCxnSpPr>
          <p:nvPr/>
        </p:nvCxnSpPr>
        <p:spPr>
          <a:xfrm rot="16200000" flipH="1">
            <a:off x="7327816" y="4734503"/>
            <a:ext cx="466156" cy="48266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カギ線コネクタ 21">
            <a:extLst>
              <a:ext uri="{FF2B5EF4-FFF2-40B4-BE49-F238E27FC236}">
                <a16:creationId xmlns:a16="http://schemas.microsoft.com/office/drawing/2014/main" id="{4F760215-52FC-6244-1C82-991B0AC9A18F}"/>
              </a:ext>
            </a:extLst>
          </p:cNvPr>
          <p:cNvCxnSpPr>
            <a:cxnSpLocks/>
            <a:stCxn id="12" idx="2"/>
            <a:endCxn id="15" idx="1"/>
          </p:cNvCxnSpPr>
          <p:nvPr/>
        </p:nvCxnSpPr>
        <p:spPr>
          <a:xfrm rot="16200000" flipH="1">
            <a:off x="7036484" y="5025835"/>
            <a:ext cx="1066321" cy="50016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カギ線コネクタ 24">
            <a:extLst>
              <a:ext uri="{FF2B5EF4-FFF2-40B4-BE49-F238E27FC236}">
                <a16:creationId xmlns:a16="http://schemas.microsoft.com/office/drawing/2014/main" id="{510085DF-EB64-DC23-5ED3-924884D6C26B}"/>
              </a:ext>
            </a:extLst>
          </p:cNvPr>
          <p:cNvCxnSpPr>
            <a:cxnSpLocks/>
            <a:stCxn id="12" idx="2"/>
            <a:endCxn id="16" idx="1"/>
          </p:cNvCxnSpPr>
          <p:nvPr/>
        </p:nvCxnSpPr>
        <p:spPr>
          <a:xfrm rot="16200000" flipH="1">
            <a:off x="6636917" y="5425402"/>
            <a:ext cx="1790406" cy="42511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ED7CE2E-3A76-C158-944A-4CB877E44B0C}"/>
              </a:ext>
            </a:extLst>
          </p:cNvPr>
          <p:cNvSpPr txBox="1"/>
          <p:nvPr/>
        </p:nvSpPr>
        <p:spPr>
          <a:xfrm>
            <a:off x="6703283" y="3690361"/>
            <a:ext cx="3281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ライブラリ中にモジュール群が入っている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36DF35A1-B627-961E-D44B-FAB7B49A8F75}"/>
              </a:ext>
            </a:extLst>
          </p:cNvPr>
          <p:cNvSpPr/>
          <p:nvPr/>
        </p:nvSpPr>
        <p:spPr>
          <a:xfrm>
            <a:off x="1705552" y="1103686"/>
            <a:ext cx="7002350" cy="14157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62D78E9-990B-5076-141B-329348D47C95}"/>
              </a:ext>
            </a:extLst>
          </p:cNvPr>
          <p:cNvSpPr txBox="1"/>
          <p:nvPr/>
        </p:nvSpPr>
        <p:spPr>
          <a:xfrm>
            <a:off x="3103850" y="555842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ライブラリ名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14549DC3-224C-46FF-2803-5FF86AD097B9}"/>
              </a:ext>
            </a:extLst>
          </p:cNvPr>
          <p:cNvSpPr txBox="1"/>
          <p:nvPr/>
        </p:nvSpPr>
        <p:spPr>
          <a:xfrm>
            <a:off x="4651232" y="555842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モジュール名</a:t>
            </a:r>
          </a:p>
        </p:txBody>
      </p:sp>
      <p:sp>
        <p:nvSpPr>
          <p:cNvPr id="32" name="左中かっこ 31">
            <a:extLst>
              <a:ext uri="{FF2B5EF4-FFF2-40B4-BE49-F238E27FC236}">
                <a16:creationId xmlns:a16="http://schemas.microsoft.com/office/drawing/2014/main" id="{99CE1C1B-9240-22D7-0E57-FBC6C8956F61}"/>
              </a:ext>
            </a:extLst>
          </p:cNvPr>
          <p:cNvSpPr/>
          <p:nvPr/>
        </p:nvSpPr>
        <p:spPr>
          <a:xfrm rot="16200000">
            <a:off x="3897375" y="4861951"/>
            <a:ext cx="339307" cy="98187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左中かっこ 32">
            <a:extLst>
              <a:ext uri="{FF2B5EF4-FFF2-40B4-BE49-F238E27FC236}">
                <a16:creationId xmlns:a16="http://schemas.microsoft.com/office/drawing/2014/main" id="{857D7672-CA8D-1CA2-9622-DBE6034B8BC5}"/>
              </a:ext>
            </a:extLst>
          </p:cNvPr>
          <p:cNvSpPr/>
          <p:nvPr/>
        </p:nvSpPr>
        <p:spPr>
          <a:xfrm rot="16200000">
            <a:off x="4740559" y="5118198"/>
            <a:ext cx="339307" cy="505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3042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A81B492-44CE-E2AA-A161-0C9E47CE7B44}"/>
              </a:ext>
            </a:extLst>
          </p:cNvPr>
          <p:cNvSpPr txBox="1"/>
          <p:nvPr/>
        </p:nvSpPr>
        <p:spPr>
          <a:xfrm>
            <a:off x="626104" y="521882"/>
            <a:ext cx="57931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 u="sng">
                <a:latin typeface="Meiryo" panose="020B0604030504040204" pitchFamily="34" charset="-128"/>
                <a:ea typeface="Meiryo" panose="020B0604030504040204" pitchFamily="34" charset="-128"/>
              </a:rPr>
              <a:t>特定のモジュールだけを</a:t>
            </a:r>
            <a:r>
              <a:rPr kumimoji="1" lang="en-US" altLang="ja-JP" sz="2400" u="sng" dirty="0">
                <a:latin typeface="Meiryo" panose="020B0604030504040204" pitchFamily="34" charset="-128"/>
                <a:ea typeface="Meiryo" panose="020B0604030504040204" pitchFamily="34" charset="-128"/>
              </a:rPr>
              <a:t>import</a:t>
            </a:r>
            <a:r>
              <a:rPr kumimoji="1" lang="ja-JP" altLang="en-US" sz="2400" u="sng">
                <a:latin typeface="Meiryo" panose="020B0604030504040204" pitchFamily="34" charset="-128"/>
                <a:ea typeface="Meiryo" panose="020B0604030504040204" pitchFamily="34" charset="-128"/>
              </a:rPr>
              <a:t>する場合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963346E-EE00-87A1-BBF4-6E0D433EBEF1}"/>
              </a:ext>
            </a:extLst>
          </p:cNvPr>
          <p:cNvSpPr txBox="1"/>
          <p:nvPr/>
        </p:nvSpPr>
        <p:spPr>
          <a:xfrm>
            <a:off x="1620485" y="3359611"/>
            <a:ext cx="34254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f</a:t>
            </a:r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rom math import log</a:t>
            </a:r>
          </a:p>
          <a:p>
            <a:pPr algn="l"/>
            <a:endParaRPr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result =log(5)</a:t>
            </a:r>
            <a:endParaRPr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l"/>
            <a:endParaRPr kumimoji="1"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788C6A5-C29D-C4A6-1C15-1EFE21899E45}"/>
              </a:ext>
            </a:extLst>
          </p:cNvPr>
          <p:cNvSpPr txBox="1"/>
          <p:nvPr/>
        </p:nvSpPr>
        <p:spPr>
          <a:xfrm>
            <a:off x="1139483" y="287237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例：</a:t>
            </a:r>
            <a:endParaRPr kumimoji="1"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87B0368-BB51-DBBE-9766-EB4EC350A98F}"/>
              </a:ext>
            </a:extLst>
          </p:cNvPr>
          <p:cNvSpPr/>
          <p:nvPr/>
        </p:nvSpPr>
        <p:spPr>
          <a:xfrm>
            <a:off x="5936565" y="3059746"/>
            <a:ext cx="2700997" cy="24829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14F8FD3-1B4A-ADBB-0D14-A96F7725084A}"/>
              </a:ext>
            </a:extLst>
          </p:cNvPr>
          <p:cNvSpPr txBox="1"/>
          <p:nvPr/>
        </p:nvSpPr>
        <p:spPr>
          <a:xfrm>
            <a:off x="5936564" y="3059745"/>
            <a:ext cx="965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math</a:t>
            </a:r>
            <a:endParaRPr kumimoji="1"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8864BC2-D15A-4445-9ECD-FDE951A6C6A5}"/>
              </a:ext>
            </a:extLst>
          </p:cNvPr>
          <p:cNvSpPr txBox="1"/>
          <p:nvPr/>
        </p:nvSpPr>
        <p:spPr>
          <a:xfrm>
            <a:off x="6901893" y="3756733"/>
            <a:ext cx="633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log</a:t>
            </a:r>
            <a:endParaRPr kumimoji="1"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7231CAE-1DB0-2711-DD4E-E458B872492D}"/>
              </a:ext>
            </a:extLst>
          </p:cNvPr>
          <p:cNvSpPr txBox="1"/>
          <p:nvPr/>
        </p:nvSpPr>
        <p:spPr>
          <a:xfrm>
            <a:off x="6919393" y="4356898"/>
            <a:ext cx="721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exp</a:t>
            </a:r>
            <a:endParaRPr kumimoji="1"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963688A-20B1-A3F0-0DAE-328D43D3DF78}"/>
              </a:ext>
            </a:extLst>
          </p:cNvPr>
          <p:cNvSpPr txBox="1"/>
          <p:nvPr/>
        </p:nvSpPr>
        <p:spPr>
          <a:xfrm>
            <a:off x="6844345" y="5080983"/>
            <a:ext cx="1382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factorial</a:t>
            </a:r>
            <a:endParaRPr kumimoji="1"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12" name="カギ線コネクタ 11">
            <a:extLst>
              <a:ext uri="{FF2B5EF4-FFF2-40B4-BE49-F238E27FC236}">
                <a16:creationId xmlns:a16="http://schemas.microsoft.com/office/drawing/2014/main" id="{256832CB-5ECB-2BC6-49A6-4402619C973F}"/>
              </a:ext>
            </a:extLst>
          </p:cNvPr>
          <p:cNvCxnSpPr>
            <a:cxnSpLocks/>
            <a:stCxn id="8" idx="2"/>
            <a:endCxn id="9" idx="1"/>
          </p:cNvCxnSpPr>
          <p:nvPr/>
        </p:nvCxnSpPr>
        <p:spPr>
          <a:xfrm rot="16200000" flipH="1">
            <a:off x="6427483" y="3513156"/>
            <a:ext cx="466156" cy="482664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カギ線コネクタ 12">
            <a:extLst>
              <a:ext uri="{FF2B5EF4-FFF2-40B4-BE49-F238E27FC236}">
                <a16:creationId xmlns:a16="http://schemas.microsoft.com/office/drawing/2014/main" id="{40B47152-D83B-FE17-1B6D-D957A0AEBA01}"/>
              </a:ext>
            </a:extLst>
          </p:cNvPr>
          <p:cNvCxnSpPr>
            <a:cxnSpLocks/>
            <a:stCxn id="8" idx="2"/>
            <a:endCxn id="10" idx="1"/>
          </p:cNvCxnSpPr>
          <p:nvPr/>
        </p:nvCxnSpPr>
        <p:spPr>
          <a:xfrm rot="16200000" flipH="1">
            <a:off x="6136151" y="3804488"/>
            <a:ext cx="1066321" cy="50016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カギ線コネクタ 13">
            <a:extLst>
              <a:ext uri="{FF2B5EF4-FFF2-40B4-BE49-F238E27FC236}">
                <a16:creationId xmlns:a16="http://schemas.microsoft.com/office/drawing/2014/main" id="{915F0717-57DC-0816-3A41-B0D64D4EEA7B}"/>
              </a:ext>
            </a:extLst>
          </p:cNvPr>
          <p:cNvCxnSpPr>
            <a:cxnSpLocks/>
            <a:stCxn id="8" idx="2"/>
            <a:endCxn id="11" idx="1"/>
          </p:cNvCxnSpPr>
          <p:nvPr/>
        </p:nvCxnSpPr>
        <p:spPr>
          <a:xfrm rot="16200000" flipH="1">
            <a:off x="5736584" y="4204055"/>
            <a:ext cx="1790406" cy="42511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角丸四角形 14">
            <a:extLst>
              <a:ext uri="{FF2B5EF4-FFF2-40B4-BE49-F238E27FC236}">
                <a16:creationId xmlns:a16="http://schemas.microsoft.com/office/drawing/2014/main" id="{5F138C69-DE16-D0FA-92CB-297FE9C488DF}"/>
              </a:ext>
            </a:extLst>
          </p:cNvPr>
          <p:cNvSpPr/>
          <p:nvPr/>
        </p:nvSpPr>
        <p:spPr>
          <a:xfrm>
            <a:off x="6288258" y="3756733"/>
            <a:ext cx="2574388" cy="46166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9A453D7-031F-828C-6BCB-11D6D8F565CA}"/>
              </a:ext>
            </a:extLst>
          </p:cNvPr>
          <p:cNvSpPr txBox="1"/>
          <p:nvPr/>
        </p:nvSpPr>
        <p:spPr>
          <a:xfrm>
            <a:off x="8920194" y="375673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これだけ使う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E432060-549F-270D-8AC2-A85C0DA98323}"/>
              </a:ext>
            </a:extLst>
          </p:cNvPr>
          <p:cNvSpPr txBox="1"/>
          <p:nvPr/>
        </p:nvSpPr>
        <p:spPr>
          <a:xfrm>
            <a:off x="2528020" y="4587730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モジュール名が不要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9D25464-7CDD-98D6-9691-20E6F5800ADA}"/>
              </a:ext>
            </a:extLst>
          </p:cNvPr>
          <p:cNvSpPr txBox="1"/>
          <p:nvPr/>
        </p:nvSpPr>
        <p:spPr>
          <a:xfrm>
            <a:off x="1139483" y="1978084"/>
            <a:ext cx="4160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変数</a:t>
            </a:r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 = </a:t>
            </a:r>
            <a:r>
              <a:rPr kumimoji="1"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モジュール名</a:t>
            </a:r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kumimoji="1"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引数）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C77FC80-3DB7-7F9C-301D-BE17A183479D}"/>
              </a:ext>
            </a:extLst>
          </p:cNvPr>
          <p:cNvSpPr txBox="1"/>
          <p:nvPr/>
        </p:nvSpPr>
        <p:spPr>
          <a:xfrm>
            <a:off x="1145062" y="1324593"/>
            <a:ext cx="58893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from</a:t>
            </a:r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kumimoji="1"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ライブラリ名</a:t>
            </a:r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 import </a:t>
            </a:r>
            <a:r>
              <a:rPr kumimoji="1"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モジュール名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664A380-D67D-7105-624A-7DE7F1C38068}"/>
              </a:ext>
            </a:extLst>
          </p:cNvPr>
          <p:cNvSpPr/>
          <p:nvPr/>
        </p:nvSpPr>
        <p:spPr>
          <a:xfrm>
            <a:off x="1139483" y="1132767"/>
            <a:ext cx="7002350" cy="14157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A4D9E27-FB02-8266-91B2-768BB12FFADB}"/>
              </a:ext>
            </a:extLst>
          </p:cNvPr>
          <p:cNvSpPr txBox="1"/>
          <p:nvPr/>
        </p:nvSpPr>
        <p:spPr>
          <a:xfrm>
            <a:off x="5191983" y="1987196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ライブラリ名が不要</a:t>
            </a:r>
          </a:p>
        </p:txBody>
      </p:sp>
    </p:spTree>
    <p:extLst>
      <p:ext uri="{BB962C8B-B14F-4D97-AF65-F5344CB8AC3E}">
        <p14:creationId xmlns:p14="http://schemas.microsoft.com/office/powerpoint/2010/main" val="1775779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470B5B3-5B47-A1F8-5634-88871DBFAFEA}"/>
              </a:ext>
            </a:extLst>
          </p:cNvPr>
          <p:cNvSpPr txBox="1"/>
          <p:nvPr/>
        </p:nvSpPr>
        <p:spPr>
          <a:xfrm>
            <a:off x="794797" y="3966624"/>
            <a:ext cx="34254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f</a:t>
            </a:r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rom math import log</a:t>
            </a:r>
          </a:p>
          <a:p>
            <a:pPr algn="l"/>
            <a:endParaRPr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result =log(5)</a:t>
            </a:r>
            <a:endParaRPr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l"/>
            <a:endParaRPr kumimoji="1"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E2BE84E-F8F0-F59A-05D7-245CF3E31100}"/>
              </a:ext>
            </a:extLst>
          </p:cNvPr>
          <p:cNvSpPr/>
          <p:nvPr/>
        </p:nvSpPr>
        <p:spPr>
          <a:xfrm>
            <a:off x="4416623" y="3966625"/>
            <a:ext cx="2700997" cy="24829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73F8E41-8441-D704-F653-64375EF76B1E}"/>
              </a:ext>
            </a:extLst>
          </p:cNvPr>
          <p:cNvSpPr txBox="1"/>
          <p:nvPr/>
        </p:nvSpPr>
        <p:spPr>
          <a:xfrm>
            <a:off x="4416622" y="3966624"/>
            <a:ext cx="965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math</a:t>
            </a:r>
            <a:endParaRPr kumimoji="1"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BA2A6DF-C76C-C6E0-0013-0EEFE937310B}"/>
              </a:ext>
            </a:extLst>
          </p:cNvPr>
          <p:cNvSpPr txBox="1"/>
          <p:nvPr/>
        </p:nvSpPr>
        <p:spPr>
          <a:xfrm>
            <a:off x="5381951" y="4663612"/>
            <a:ext cx="633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log</a:t>
            </a:r>
            <a:endParaRPr kumimoji="1"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53ADC2F-423C-3F7B-EBC3-1B01614DEAED}"/>
              </a:ext>
            </a:extLst>
          </p:cNvPr>
          <p:cNvSpPr txBox="1"/>
          <p:nvPr/>
        </p:nvSpPr>
        <p:spPr>
          <a:xfrm>
            <a:off x="5399451" y="5263777"/>
            <a:ext cx="721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exp</a:t>
            </a:r>
            <a:endParaRPr kumimoji="1"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6B4AA0B-0325-24F3-77AC-BD4FCD64A629}"/>
              </a:ext>
            </a:extLst>
          </p:cNvPr>
          <p:cNvSpPr txBox="1"/>
          <p:nvPr/>
        </p:nvSpPr>
        <p:spPr>
          <a:xfrm>
            <a:off x="5324403" y="5987862"/>
            <a:ext cx="1382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factorial</a:t>
            </a:r>
            <a:endParaRPr kumimoji="1"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10" name="カギ線コネクタ 9">
            <a:extLst>
              <a:ext uri="{FF2B5EF4-FFF2-40B4-BE49-F238E27FC236}">
                <a16:creationId xmlns:a16="http://schemas.microsoft.com/office/drawing/2014/main" id="{DF95AFA2-7C31-F0BD-F1AB-F404EDD38D84}"/>
              </a:ext>
            </a:extLst>
          </p:cNvPr>
          <p:cNvCxnSpPr>
            <a:cxnSpLocks/>
            <a:stCxn id="6" idx="2"/>
            <a:endCxn id="7" idx="1"/>
          </p:cNvCxnSpPr>
          <p:nvPr/>
        </p:nvCxnSpPr>
        <p:spPr>
          <a:xfrm rot="16200000" flipH="1">
            <a:off x="4907541" y="4420035"/>
            <a:ext cx="466156" cy="482664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カギ線コネクタ 10">
            <a:extLst>
              <a:ext uri="{FF2B5EF4-FFF2-40B4-BE49-F238E27FC236}">
                <a16:creationId xmlns:a16="http://schemas.microsoft.com/office/drawing/2014/main" id="{8D681B87-1260-A901-B5C4-6F0E82ADFB38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rot="16200000" flipH="1">
            <a:off x="4616209" y="4711367"/>
            <a:ext cx="1066321" cy="50016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カギ線コネクタ 11">
            <a:extLst>
              <a:ext uri="{FF2B5EF4-FFF2-40B4-BE49-F238E27FC236}">
                <a16:creationId xmlns:a16="http://schemas.microsoft.com/office/drawing/2014/main" id="{CCF46C5D-70F2-D562-3F66-0211DA38EBC0}"/>
              </a:ext>
            </a:extLst>
          </p:cNvPr>
          <p:cNvCxnSpPr>
            <a:cxnSpLocks/>
            <a:stCxn id="6" idx="2"/>
            <a:endCxn id="9" idx="1"/>
          </p:cNvCxnSpPr>
          <p:nvPr/>
        </p:nvCxnSpPr>
        <p:spPr>
          <a:xfrm rot="16200000" flipH="1">
            <a:off x="4216642" y="5110934"/>
            <a:ext cx="1790406" cy="42511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55B339C2-D09B-AED7-DD74-DA252B2710CD}"/>
              </a:ext>
            </a:extLst>
          </p:cNvPr>
          <p:cNvSpPr/>
          <p:nvPr/>
        </p:nvSpPr>
        <p:spPr>
          <a:xfrm>
            <a:off x="4768316" y="4663612"/>
            <a:ext cx="2574388" cy="46166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4BBA282-B0FC-A9BA-C556-FD5AB9EBB478}"/>
              </a:ext>
            </a:extLst>
          </p:cNvPr>
          <p:cNvSpPr txBox="1"/>
          <p:nvPr/>
        </p:nvSpPr>
        <p:spPr>
          <a:xfrm>
            <a:off x="853413" y="1182609"/>
            <a:ext cx="32816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i</a:t>
            </a:r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mport math</a:t>
            </a:r>
          </a:p>
          <a:p>
            <a:pPr algn="l"/>
            <a:endParaRPr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l"/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r</a:t>
            </a:r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esult = </a:t>
            </a:r>
            <a:r>
              <a:rPr kumimoji="1" lang="en-US" altLang="ja-JP" sz="2400" dirty="0" err="1">
                <a:latin typeface="Meiryo" panose="020B0604030504040204" pitchFamily="34" charset="-128"/>
                <a:ea typeface="Meiryo" panose="020B0604030504040204" pitchFamily="34" charset="-128"/>
              </a:rPr>
              <a:t>math.log</a:t>
            </a:r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(5)</a:t>
            </a:r>
            <a:endParaRPr kumimoji="1"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837D915-2DB9-64EB-D33F-C0850F36223C}"/>
              </a:ext>
            </a:extLst>
          </p:cNvPr>
          <p:cNvSpPr/>
          <p:nvPr/>
        </p:nvSpPr>
        <p:spPr>
          <a:xfrm>
            <a:off x="4449751" y="1141487"/>
            <a:ext cx="2700997" cy="24829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4817012-93BC-5B16-FF11-0D1680C0CF39}"/>
              </a:ext>
            </a:extLst>
          </p:cNvPr>
          <p:cNvSpPr txBox="1"/>
          <p:nvPr/>
        </p:nvSpPr>
        <p:spPr>
          <a:xfrm>
            <a:off x="4449750" y="1141486"/>
            <a:ext cx="965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math</a:t>
            </a:r>
            <a:endParaRPr kumimoji="1"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E624C0A-2AC4-5203-25B8-7B42BB8BF85B}"/>
              </a:ext>
            </a:extLst>
          </p:cNvPr>
          <p:cNvSpPr txBox="1"/>
          <p:nvPr/>
        </p:nvSpPr>
        <p:spPr>
          <a:xfrm>
            <a:off x="5415079" y="1838474"/>
            <a:ext cx="633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log</a:t>
            </a:r>
            <a:endParaRPr kumimoji="1"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B67AB53-2DB3-61C1-C993-695196D1DD74}"/>
              </a:ext>
            </a:extLst>
          </p:cNvPr>
          <p:cNvSpPr txBox="1"/>
          <p:nvPr/>
        </p:nvSpPr>
        <p:spPr>
          <a:xfrm>
            <a:off x="5432579" y="2438639"/>
            <a:ext cx="721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exp</a:t>
            </a:r>
            <a:endParaRPr kumimoji="1"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219DB4D-A5E7-2E56-7B3C-4E9EA6E0931E}"/>
              </a:ext>
            </a:extLst>
          </p:cNvPr>
          <p:cNvSpPr txBox="1"/>
          <p:nvPr/>
        </p:nvSpPr>
        <p:spPr>
          <a:xfrm>
            <a:off x="5357531" y="3162724"/>
            <a:ext cx="1382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factorial</a:t>
            </a:r>
            <a:endParaRPr kumimoji="1"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23" name="カギ線コネクタ 22">
            <a:extLst>
              <a:ext uri="{FF2B5EF4-FFF2-40B4-BE49-F238E27FC236}">
                <a16:creationId xmlns:a16="http://schemas.microsoft.com/office/drawing/2014/main" id="{FB0B7A02-4467-D80A-2762-49A93147FEAB}"/>
              </a:ext>
            </a:extLst>
          </p:cNvPr>
          <p:cNvCxnSpPr>
            <a:cxnSpLocks/>
            <a:stCxn id="19" idx="2"/>
            <a:endCxn id="20" idx="1"/>
          </p:cNvCxnSpPr>
          <p:nvPr/>
        </p:nvCxnSpPr>
        <p:spPr>
          <a:xfrm rot="16200000" flipH="1">
            <a:off x="4940669" y="1594897"/>
            <a:ext cx="466156" cy="48266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カギ線コネクタ 23">
            <a:extLst>
              <a:ext uri="{FF2B5EF4-FFF2-40B4-BE49-F238E27FC236}">
                <a16:creationId xmlns:a16="http://schemas.microsoft.com/office/drawing/2014/main" id="{EA6D37ED-CB28-6238-B021-CF3ECC55175B}"/>
              </a:ext>
            </a:extLst>
          </p:cNvPr>
          <p:cNvCxnSpPr>
            <a:cxnSpLocks/>
            <a:stCxn id="19" idx="2"/>
            <a:endCxn id="21" idx="1"/>
          </p:cNvCxnSpPr>
          <p:nvPr/>
        </p:nvCxnSpPr>
        <p:spPr>
          <a:xfrm rot="16200000" flipH="1">
            <a:off x="4649337" y="1886229"/>
            <a:ext cx="1066321" cy="50016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カギ線コネクタ 24">
            <a:extLst>
              <a:ext uri="{FF2B5EF4-FFF2-40B4-BE49-F238E27FC236}">
                <a16:creationId xmlns:a16="http://schemas.microsoft.com/office/drawing/2014/main" id="{06E23F8A-6421-5A99-DFA7-8780B63F359E}"/>
              </a:ext>
            </a:extLst>
          </p:cNvPr>
          <p:cNvCxnSpPr>
            <a:cxnSpLocks/>
            <a:stCxn id="19" idx="2"/>
            <a:endCxn id="22" idx="1"/>
          </p:cNvCxnSpPr>
          <p:nvPr/>
        </p:nvCxnSpPr>
        <p:spPr>
          <a:xfrm rot="16200000" flipH="1">
            <a:off x="4249770" y="2285796"/>
            <a:ext cx="1790406" cy="42511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2B550FC-BAED-4536-1B76-911F256A2452}"/>
              </a:ext>
            </a:extLst>
          </p:cNvPr>
          <p:cNvSpPr txBox="1"/>
          <p:nvPr/>
        </p:nvSpPr>
        <p:spPr>
          <a:xfrm>
            <a:off x="506437" y="295422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何が違うか？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4C0D6940-A57D-ADD3-8EC9-8C7D8FA71067}"/>
              </a:ext>
            </a:extLst>
          </p:cNvPr>
          <p:cNvSpPr txBox="1"/>
          <p:nvPr/>
        </p:nvSpPr>
        <p:spPr>
          <a:xfrm>
            <a:off x="8276821" y="2082854"/>
            <a:ext cx="29439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ライブラリが全部メモリに入る</a:t>
            </a:r>
          </a:p>
        </p:txBody>
      </p:sp>
      <p:sp>
        <p:nvSpPr>
          <p:cNvPr id="34" name="右矢印 33">
            <a:extLst>
              <a:ext uri="{FF2B5EF4-FFF2-40B4-BE49-F238E27FC236}">
                <a16:creationId xmlns:a16="http://schemas.microsoft.com/office/drawing/2014/main" id="{D088CDF2-97E0-9E87-975F-616917DD6B16}"/>
              </a:ext>
            </a:extLst>
          </p:cNvPr>
          <p:cNvSpPr/>
          <p:nvPr/>
        </p:nvSpPr>
        <p:spPr>
          <a:xfrm>
            <a:off x="7408985" y="2069307"/>
            <a:ext cx="609599" cy="8309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1D1ABA50-71BE-18B2-2918-C775A3F43F4E}"/>
              </a:ext>
            </a:extLst>
          </p:cNvPr>
          <p:cNvSpPr txBox="1"/>
          <p:nvPr/>
        </p:nvSpPr>
        <p:spPr>
          <a:xfrm>
            <a:off x="8285588" y="4718834"/>
            <a:ext cx="29439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モジュールだけ</a:t>
            </a:r>
            <a:r>
              <a:rPr kumimoji="1"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メモリに入る</a:t>
            </a:r>
          </a:p>
        </p:txBody>
      </p:sp>
      <p:sp>
        <p:nvSpPr>
          <p:cNvPr id="36" name="右矢印 35">
            <a:extLst>
              <a:ext uri="{FF2B5EF4-FFF2-40B4-BE49-F238E27FC236}">
                <a16:creationId xmlns:a16="http://schemas.microsoft.com/office/drawing/2014/main" id="{2D8D4DE9-8CA2-E99E-A7CF-4C6CA6B63398}"/>
              </a:ext>
            </a:extLst>
          </p:cNvPr>
          <p:cNvSpPr/>
          <p:nvPr/>
        </p:nvSpPr>
        <p:spPr>
          <a:xfrm>
            <a:off x="7417752" y="4705287"/>
            <a:ext cx="609599" cy="8309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1645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kumimoji="1" sz="2400" smtClean="0">
            <a:latin typeface="Meiryo" panose="020B0604030504040204" pitchFamily="34" charset="-128"/>
            <a:ea typeface="Meiryo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199</Words>
  <Application>Microsoft Macintosh PowerPoint</Application>
  <PresentationFormat>ワイド画面</PresentationFormat>
  <Paragraphs>57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Meiryo</vt:lpstr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Hiroshi Uehara</dc:creator>
  <cp:lastModifiedBy>Hiroshi Uehara</cp:lastModifiedBy>
  <cp:revision>10</cp:revision>
  <dcterms:created xsi:type="dcterms:W3CDTF">2026-05-27T08:13:48Z</dcterms:created>
  <dcterms:modified xsi:type="dcterms:W3CDTF">2026-05-27T09:20:17Z</dcterms:modified>
</cp:coreProperties>
</file>